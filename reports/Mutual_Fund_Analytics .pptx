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Calibri"/>
              </a:rPr>
              <a:t>Fund Category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 Category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9963C"/>
              </a:solidFill>
              <a:effectLst/>
            </c:spPr>
          </c:dPt>
          <c:dPt>
            <c:idx val="2"/>
            <c:bubble3D val="0"/>
            <c:spPr>
              <a:solidFill>
                <a:srgbClr val="5B77C9"/>
              </a:solidFill>
              <a:effectLst/>
            </c:spPr>
          </c:dPt>
          <c:dPt>
            <c:idx val="3"/>
            <c:bubble3D val="0"/>
            <c:spPr>
              <a:solidFill>
                <a:srgbClr val="C7CEE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47</c:v>
                </c:pt>
                <c:pt idx="1">
                  <c:v>27</c:v>
                </c:pt>
                <c:pt idx="2">
                  <c:v>19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1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Calibri"/>
              </a:rPr>
              <a:t>Monthly SIP Inflows (₹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(₹ Bn)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1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12.4</c:v>
                </c:pt>
                <c:pt idx="1">
                  <c:v>13.1</c:v>
                </c:pt>
                <c:pt idx="2">
                  <c:v>13.8</c:v>
                </c:pt>
                <c:pt idx="3">
                  <c:v>14.6</c:v>
                </c:pt>
                <c:pt idx="4">
                  <c:v>15.2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1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Calibri"/>
              </a:rPr>
              <a:t>Top Funds by 5Y CAGR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5Y CAGR (%)</c:v>
                </c:pt>
              </c:strCache>
            </c:strRef>
          </c:tx>
          <c:spPr>
            <a:solidFill>
              <a:srgbClr val="C9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1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Fund A</c:v>
                  </c:pt>
                  <c:pt idx="1">
                    <c:v>Fund B</c:v>
                  </c:pt>
                  <c:pt idx="2">
                    <c:v>Fund C</c:v>
                  </c:pt>
                  <c:pt idx="3">
                    <c:v>Fund D</c:v>
                  </c:pt>
                  <c:pt idx="4">
                    <c:v>Fund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26.2</c:v>
                </c:pt>
                <c:pt idx="2">
                  <c:v>15.3</c:v>
                </c:pt>
                <c:pt idx="3">
                  <c:v>11.7</c:v>
                </c:pt>
                <c:pt idx="4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1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Calibri"/>
              </a:rPr>
              <a:t>Return vs. Risk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(%)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10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26.2</c:v>
                </c:pt>
                <c:pt idx="2">
                  <c:v>15.3</c:v>
                </c:pt>
                <c:pt idx="3">
                  <c:v>11.7</c:v>
                </c:pt>
                <c:pt idx="4">
                  <c:v>9.8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1F3F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178"/>
                    </a:solidFill>
                    <a:latin typeface="Arial"/>
                  </a:rPr>
                  <a:t>Risk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178"/>
                    </a:solidFill>
                    <a:latin typeface="Arial"/>
                  </a:rPr>
                  <a:t>Return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SRI VASAVI ENGINEERING COLLEGE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5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9436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smarter investment decisions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1014984" cy="384048"/>
          </a:xfrm>
          <a:prstGeom prst="roundRect">
            <a:avLst>
              <a:gd name="adj" fmla="val 19048"/>
            </a:avLst>
          </a:prstGeom>
          <a:solidFill>
            <a:srgbClr val="141A47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89204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92224" y="4892040"/>
            <a:ext cx="1014984" cy="384048"/>
          </a:xfrm>
          <a:prstGeom prst="roundRect">
            <a:avLst>
              <a:gd name="adj" fmla="val 19048"/>
            </a:avLst>
          </a:prstGeom>
          <a:solidFill>
            <a:srgbClr val="141A47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489204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90088" y="489204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141A47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4892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806440"/>
            <a:ext cx="2926080" cy="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Subrahmanyam Chowdary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236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Vasavi Engineering College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mutual fund industry generates a huge volume of data from multiple sources — NAV history, AUM, transactions, SIP inflows, and portfolio holdings. Investors and analysts face real challenges in turning this data into decisions.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 across multiple files and formats, with no single source of truth.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423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Consolidated View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66160" y="39319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unified view for performance and risk analysis across schemes.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Compare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evaluate funds, compare across categories, and identify opportunities.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24231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3544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Error-Prone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35440" y="39319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time-consuming and prone to human error.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74243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integrate, analyze, and visualize mutual fund data to deliver meaningful insights for better decision-making.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04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86207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files: NAV, AUM,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SIP, holdings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5374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19659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907792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07792" y="2404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07792" y="286207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multi-source files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25374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2624" y="19659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9784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9784" y="2404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29784" y="286207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with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58584" y="25374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14616" y="19659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51776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51776" y="2404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51776" y="286207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SQLite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schema)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0576" y="25374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36608" y="19659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957376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73768" y="24048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&amp; Visualize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73768" y="2862072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Matplotlib,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Seaborn, Scikit-learn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Reports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590288"/>
            <a:ext cx="384048" cy="38404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590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" y="5074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dashboards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8328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4590288"/>
            <a:ext cx="384048" cy="38404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5" name="Text 33"/>
          <p:cNvSpPr/>
          <p:nvPr/>
        </p:nvSpPr>
        <p:spPr>
          <a:xfrm>
            <a:off x="3584448" y="4590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566160" y="5074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analytics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792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4590288"/>
            <a:ext cx="384048" cy="38404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4590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400800" y="5074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category trend reports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5256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53728" y="4590288"/>
            <a:ext cx="384048" cy="38404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43" name="Text 41"/>
          <p:cNvSpPr/>
          <p:nvPr/>
        </p:nvSpPr>
        <p:spPr>
          <a:xfrm>
            <a:off x="9253728" y="4590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235440" y="5074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fund recommendations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475488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1280160"/>
              </a:tblGrid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Master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of mutual fund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of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1,21,569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by Fund 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under management by fund 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 Inflows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 contribution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Inflows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/ category-wise inflows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Folio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folio count by 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&amp; risk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/ sell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22,776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Holdings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holdings of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Indices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index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41732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5087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1248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12480" y="306324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C9963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31546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1.2M+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12480" y="3931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Processed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470916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8463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multi-source dataset spanning schemes, transactions, and market benchmarks.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(ETL)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multiple CSV files across sources using Python.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7764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and standardize formats with Pandas.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668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1540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1040" y="237744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cleaned data into a SQLite database, structured in a star schema.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57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Pandas   •   SQLite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PREVIEW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46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4846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846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Distribution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846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Analysis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52560" y="48463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48463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Benchmarking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27432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32004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  •  fact_aum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  •  fact_performance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fact_sip_inflows  •  fact_portfolio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Key, Day, Month, Quarter, Year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78240" y="128016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389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DIM_CATEGORY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15400" y="17373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Key, Category, Sub-category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44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DIM_FUND_HOUSE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892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Key, Name, Inception Date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4434840"/>
            <a:ext cx="288036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544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DIM_SCHEME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4892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Key, Scheme Name, Fund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29000" y="1897380"/>
            <a:ext cx="1051560" cy="914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897380"/>
            <a:ext cx="914" cy="84582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1897380"/>
            <a:ext cx="1097280" cy="914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897380"/>
            <a:ext cx="914" cy="84582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5052060"/>
            <a:ext cx="1051560" cy="914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160520"/>
            <a:ext cx="914" cy="89154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5052060"/>
            <a:ext cx="1097280" cy="914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4160520"/>
            <a:ext cx="914" cy="89154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Database: mutual_fund_analytics.db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41A47"/>
          </a:solidFill>
          <a:ln w="12700">
            <a:solidFill>
              <a:srgbClr val="313B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Scheme-level AUM, NAV trends &amp; allocation mix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41A47"/>
          </a:solidFill>
          <a:ln w="12700">
            <a:solidFill>
              <a:srgbClr val="313B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810512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Comparison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vs. Debt vs. Hybrid performance side-by-side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41A47"/>
          </a:solidFill>
          <a:ln w="12700">
            <a:solidFill>
              <a:srgbClr val="313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&amp; Inflow Trends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contributions and category inflows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41A47"/>
          </a:solidFill>
          <a:ln w="12700">
            <a:solidFill>
              <a:srgbClr val="313B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050792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023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Return Explorer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ratio, CAGR and drawdown by scheme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let stakeholders explore data and derive insights in real time.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37760" y="1417320"/>
          <a:ext cx="6720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7091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helps uncover data patterns, trends, and distributions across the fund universe.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57424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equity funds have delivered the most consistent long-term returns, while SIP inflows show a steady upward trend — a signal of growing investor confidence.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5Y CAGR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4813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Sharpe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813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Sortino Ratio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4813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-0.45%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Max Drawdown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2971800"/>
          <a:ext cx="52120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943600" y="2971800"/>
          <a:ext cx="5715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help identify top-performing funds with optimal risk.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(VaR), Beta, and Alpha calculated for every scheme to quantify downside exposure.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618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Risk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Herfindahl-Hirschman Index (HHI) measures portfolio concentration across holdings.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Ratio and rolling 21-day volatility track how risk-adjusted performance evolves.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scoring model combining performance, risk, and consistency to rank funds.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406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Recommended Funds: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54406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— Score 0.92        Fund B — Score 0.76        Fund C — Score 0.71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Investor Confidence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are increasing steadily, indicating growing investor confidence in mutual funds.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86600" y="16184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in Debt Funds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funds show lower risk and stable returns — ideal for conservative investors.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7673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≠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AUM does not always mean high returns; always check performance and risk together.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794760"/>
            <a:ext cx="457200" cy="4572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37673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across categories consistently reduces overall portfolio risk.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4243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7424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insights empower investors to make smarter decisions.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comprehensive EDA, performance, and risk analysis across 10+ datasets.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advanced analytics including VaR, HHI, and a fund recommendation engine.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08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for visual, self-serve insights.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886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360° view of mutual funds to support better investment decisions.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881360" cy="0"/>
          </a:xfrm>
          <a:prstGeom prst="line">
            <a:avLst/>
          </a:prstGeom>
          <a:noFill/>
          <a:ln w="12700">
            <a:solidFill>
              <a:srgbClr val="313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035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data analytics skills applied to real-world financial data — from raw, fragmented sources to actionable, decision-ready insights.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84648" y="4160520"/>
            <a:ext cx="1828800" cy="0"/>
          </a:xfrm>
          <a:prstGeom prst="line">
            <a:avLst/>
          </a:prstGeom>
          <a:noFill/>
          <a:ln w="19050">
            <a:solidFill>
              <a:srgbClr val="C99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Subrahmanyam Chowdary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69087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Vasavi Engineering College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2026-07-10T08:35:05Z</dcterms:created>
  <dcterms:modified xsi:type="dcterms:W3CDTF">2026-07-10T08:35:05Z</dcterms:modified>
</cp:coreProperties>
</file>